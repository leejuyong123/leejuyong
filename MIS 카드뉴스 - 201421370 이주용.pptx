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1" r:id="rId9"/>
    <p:sldId id="271" r:id="rId10"/>
    <p:sldId id="263" r:id="rId11"/>
    <p:sldId id="267" r:id="rId12"/>
    <p:sldId id="266" r:id="rId13"/>
    <p:sldId id="268" r:id="rId14"/>
    <p:sldId id="269" r:id="rId15"/>
    <p:sldId id="272" r:id="rId16"/>
    <p:sldId id="262" r:id="rId17"/>
    <p:sldId id="273" r:id="rId18"/>
    <p:sldId id="270" r:id="rId19"/>
  </p:sldIdLst>
  <p:sldSz cx="6661150" cy="6661150"/>
  <p:notesSz cx="6858000" cy="9144000"/>
  <p:defaultTextStyle>
    <a:defPPr>
      <a:defRPr lang="ko-KR"/>
    </a:defPPr>
    <a:lvl1pPr marL="0" algn="l" defTabSz="761238" rtl="0" eaLnBrk="1" latinLnBrk="1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380619" algn="l" defTabSz="761238" rtl="0" eaLnBrk="1" latinLnBrk="1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761238" algn="l" defTabSz="761238" rtl="0" eaLnBrk="1" latinLnBrk="1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141857" algn="l" defTabSz="761238" rtl="0" eaLnBrk="1" latinLnBrk="1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1522476" algn="l" defTabSz="761238" rtl="0" eaLnBrk="1" latinLnBrk="1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1903095" algn="l" defTabSz="761238" rtl="0" eaLnBrk="1" latinLnBrk="1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2283714" algn="l" defTabSz="761238" rtl="0" eaLnBrk="1" latinLnBrk="1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2664333" algn="l" defTabSz="761238" rtl="0" eaLnBrk="1" latinLnBrk="1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3044952" algn="l" defTabSz="761238" rtl="0" eaLnBrk="1" latinLnBrk="1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FFFFFF"/>
    <a:srgbClr val="FFCC00"/>
    <a:srgbClr val="FFFF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5" d="100"/>
          <a:sy n="65" d="100"/>
        </p:scale>
        <p:origin x="-1932" y="-108"/>
      </p:cViewPr>
      <p:guideLst>
        <p:guide orient="horz" pos="2098"/>
        <p:guide pos="209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99586" y="2069274"/>
            <a:ext cx="5661978" cy="142783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999173" y="3774652"/>
            <a:ext cx="4662805" cy="170229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806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612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41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224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030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837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643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449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089F4-7946-4CC1-9B94-F70B3A4D1A1E}" type="datetimeFigureOut">
              <a:rPr lang="ko-KR" altLang="en-US" smtClean="0"/>
              <a:pPr/>
              <a:t>2017-10-17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A948-351C-4B37-A7DE-F1B405EE014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089F4-7946-4CC1-9B94-F70B3A4D1A1E}" type="datetimeFigureOut">
              <a:rPr lang="ko-KR" altLang="en-US" smtClean="0"/>
              <a:pPr/>
              <a:t>2017-10-17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A948-351C-4B37-A7DE-F1B405EE014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6185" y="4280406"/>
            <a:ext cx="5661978" cy="1322978"/>
          </a:xfrm>
        </p:spPr>
        <p:txBody>
          <a:bodyPr anchor="t"/>
          <a:lstStyle>
            <a:lvl1pPr algn="l">
              <a:defRPr sz="33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26185" y="2823280"/>
            <a:ext cx="5661978" cy="1457126"/>
          </a:xfrm>
        </p:spPr>
        <p:txBody>
          <a:bodyPr anchor="b"/>
          <a:lstStyle>
            <a:lvl1pPr marL="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1pPr>
            <a:lvl2pPr marL="38061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761238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418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52247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90309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28371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66433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04495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089F4-7946-4CC1-9B94-F70B3A4D1A1E}" type="datetimeFigureOut">
              <a:rPr lang="ko-KR" altLang="en-US" smtClean="0"/>
              <a:pPr/>
              <a:t>2017-10-17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A948-351C-4B37-A7DE-F1B405EE014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42855" y="1509553"/>
            <a:ext cx="2127867" cy="4269612"/>
          </a:xfrm>
        </p:spPr>
        <p:txBody>
          <a:bodyPr/>
          <a:lstStyle>
            <a:lvl1pPr>
              <a:defRPr sz="2300"/>
            </a:lvl1pPr>
            <a:lvl2pPr>
              <a:defRPr sz="20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481741" y="1509553"/>
            <a:ext cx="2127867" cy="4269612"/>
          </a:xfrm>
        </p:spPr>
        <p:txBody>
          <a:bodyPr/>
          <a:lstStyle>
            <a:lvl1pPr>
              <a:defRPr sz="2300"/>
            </a:lvl1pPr>
            <a:lvl2pPr>
              <a:defRPr sz="20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089F4-7946-4CC1-9B94-F70B3A4D1A1E}" type="datetimeFigureOut">
              <a:rPr lang="ko-KR" altLang="en-US" smtClean="0"/>
              <a:pPr/>
              <a:t>2017-10-17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A948-351C-4B37-A7DE-F1B405EE014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33058" y="266755"/>
            <a:ext cx="5995035" cy="1110192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33057" y="1491050"/>
            <a:ext cx="2943165" cy="621398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619" indent="0">
              <a:buNone/>
              <a:defRPr sz="1700" b="1"/>
            </a:lvl2pPr>
            <a:lvl3pPr marL="761238" indent="0">
              <a:buNone/>
              <a:defRPr sz="1500" b="1"/>
            </a:lvl3pPr>
            <a:lvl4pPr marL="1141857" indent="0">
              <a:buNone/>
              <a:defRPr sz="1300" b="1"/>
            </a:lvl4pPr>
            <a:lvl5pPr marL="1522476" indent="0">
              <a:buNone/>
              <a:defRPr sz="1300" b="1"/>
            </a:lvl5pPr>
            <a:lvl6pPr marL="1903095" indent="0">
              <a:buNone/>
              <a:defRPr sz="1300" b="1"/>
            </a:lvl6pPr>
            <a:lvl7pPr marL="2283714" indent="0">
              <a:buNone/>
              <a:defRPr sz="1300" b="1"/>
            </a:lvl7pPr>
            <a:lvl8pPr marL="2664333" indent="0">
              <a:buNone/>
              <a:defRPr sz="1300" b="1"/>
            </a:lvl8pPr>
            <a:lvl9pPr marL="3044952" indent="0">
              <a:buNone/>
              <a:defRPr sz="13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33057" y="2112448"/>
            <a:ext cx="2943165" cy="3837871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383772" y="1491050"/>
            <a:ext cx="2944321" cy="621398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619" indent="0">
              <a:buNone/>
              <a:defRPr sz="1700" b="1"/>
            </a:lvl2pPr>
            <a:lvl3pPr marL="761238" indent="0">
              <a:buNone/>
              <a:defRPr sz="1500" b="1"/>
            </a:lvl3pPr>
            <a:lvl4pPr marL="1141857" indent="0">
              <a:buNone/>
              <a:defRPr sz="1300" b="1"/>
            </a:lvl4pPr>
            <a:lvl5pPr marL="1522476" indent="0">
              <a:buNone/>
              <a:defRPr sz="1300" b="1"/>
            </a:lvl5pPr>
            <a:lvl6pPr marL="1903095" indent="0">
              <a:buNone/>
              <a:defRPr sz="1300" b="1"/>
            </a:lvl6pPr>
            <a:lvl7pPr marL="2283714" indent="0">
              <a:buNone/>
              <a:defRPr sz="1300" b="1"/>
            </a:lvl7pPr>
            <a:lvl8pPr marL="2664333" indent="0">
              <a:buNone/>
              <a:defRPr sz="1300" b="1"/>
            </a:lvl8pPr>
            <a:lvl9pPr marL="3044952" indent="0">
              <a:buNone/>
              <a:defRPr sz="13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383772" y="2112448"/>
            <a:ext cx="2944321" cy="3837871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089F4-7946-4CC1-9B94-F70B3A4D1A1E}" type="datetimeFigureOut">
              <a:rPr lang="ko-KR" altLang="en-US" smtClean="0"/>
              <a:pPr/>
              <a:t>2017-10-17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A948-351C-4B37-A7DE-F1B405EE014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089F4-7946-4CC1-9B94-F70B3A4D1A1E}" type="datetimeFigureOut">
              <a:rPr lang="ko-KR" altLang="en-US" smtClean="0"/>
              <a:pPr/>
              <a:t>2017-10-17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A948-351C-4B37-A7DE-F1B405EE014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089F4-7946-4CC1-9B94-F70B3A4D1A1E}" type="datetimeFigureOut">
              <a:rPr lang="ko-KR" altLang="en-US" smtClean="0"/>
              <a:pPr/>
              <a:t>2017-10-17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A948-351C-4B37-A7DE-F1B405EE014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33058" y="265212"/>
            <a:ext cx="2191472" cy="1128695"/>
          </a:xfrm>
        </p:spPr>
        <p:txBody>
          <a:bodyPr anchor="b"/>
          <a:lstStyle>
            <a:lvl1pPr algn="l">
              <a:defRPr sz="17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04325" y="265213"/>
            <a:ext cx="3723768" cy="5685107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33058" y="1393908"/>
            <a:ext cx="2191472" cy="4556412"/>
          </a:xfrm>
        </p:spPr>
        <p:txBody>
          <a:bodyPr/>
          <a:lstStyle>
            <a:lvl1pPr marL="0" indent="0">
              <a:buNone/>
              <a:defRPr sz="1200"/>
            </a:lvl1pPr>
            <a:lvl2pPr marL="380619" indent="0">
              <a:buNone/>
              <a:defRPr sz="1000"/>
            </a:lvl2pPr>
            <a:lvl3pPr marL="761238" indent="0">
              <a:buNone/>
              <a:defRPr sz="800"/>
            </a:lvl3pPr>
            <a:lvl4pPr marL="1141857" indent="0">
              <a:buNone/>
              <a:defRPr sz="700"/>
            </a:lvl4pPr>
            <a:lvl5pPr marL="1522476" indent="0">
              <a:buNone/>
              <a:defRPr sz="700"/>
            </a:lvl5pPr>
            <a:lvl6pPr marL="1903095" indent="0">
              <a:buNone/>
              <a:defRPr sz="700"/>
            </a:lvl6pPr>
            <a:lvl7pPr marL="2283714" indent="0">
              <a:buNone/>
              <a:defRPr sz="700"/>
            </a:lvl7pPr>
            <a:lvl8pPr marL="2664333" indent="0">
              <a:buNone/>
              <a:defRPr sz="700"/>
            </a:lvl8pPr>
            <a:lvl9pPr marL="3044952" indent="0">
              <a:buNone/>
              <a:defRPr sz="7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089F4-7946-4CC1-9B94-F70B3A4D1A1E}" type="datetimeFigureOut">
              <a:rPr lang="ko-KR" altLang="en-US" smtClean="0"/>
              <a:pPr/>
              <a:t>2017-10-17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A948-351C-4B37-A7DE-F1B405EE014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05632" y="4662805"/>
            <a:ext cx="3996690" cy="550471"/>
          </a:xfrm>
        </p:spPr>
        <p:txBody>
          <a:bodyPr anchor="b"/>
          <a:lstStyle>
            <a:lvl1pPr algn="l">
              <a:defRPr sz="17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05632" y="595186"/>
            <a:ext cx="3996690" cy="3996690"/>
          </a:xfrm>
        </p:spPr>
        <p:txBody>
          <a:bodyPr/>
          <a:lstStyle>
            <a:lvl1pPr marL="0" indent="0">
              <a:buNone/>
              <a:defRPr sz="2700"/>
            </a:lvl1pPr>
            <a:lvl2pPr marL="380619" indent="0">
              <a:buNone/>
              <a:defRPr sz="2300"/>
            </a:lvl2pPr>
            <a:lvl3pPr marL="761238" indent="0">
              <a:buNone/>
              <a:defRPr sz="2000"/>
            </a:lvl3pPr>
            <a:lvl4pPr marL="1141857" indent="0">
              <a:buNone/>
              <a:defRPr sz="1700"/>
            </a:lvl4pPr>
            <a:lvl5pPr marL="1522476" indent="0">
              <a:buNone/>
              <a:defRPr sz="1700"/>
            </a:lvl5pPr>
            <a:lvl6pPr marL="1903095" indent="0">
              <a:buNone/>
              <a:defRPr sz="1700"/>
            </a:lvl6pPr>
            <a:lvl7pPr marL="2283714" indent="0">
              <a:buNone/>
              <a:defRPr sz="1700"/>
            </a:lvl7pPr>
            <a:lvl8pPr marL="2664333" indent="0">
              <a:buNone/>
              <a:defRPr sz="1700"/>
            </a:lvl8pPr>
            <a:lvl9pPr marL="3044952" indent="0">
              <a:buNone/>
              <a:defRPr sz="17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05632" y="5213276"/>
            <a:ext cx="3996690" cy="781759"/>
          </a:xfrm>
        </p:spPr>
        <p:txBody>
          <a:bodyPr/>
          <a:lstStyle>
            <a:lvl1pPr marL="0" indent="0">
              <a:buNone/>
              <a:defRPr sz="1200"/>
            </a:lvl1pPr>
            <a:lvl2pPr marL="380619" indent="0">
              <a:buNone/>
              <a:defRPr sz="1000"/>
            </a:lvl2pPr>
            <a:lvl3pPr marL="761238" indent="0">
              <a:buNone/>
              <a:defRPr sz="800"/>
            </a:lvl3pPr>
            <a:lvl4pPr marL="1141857" indent="0">
              <a:buNone/>
              <a:defRPr sz="700"/>
            </a:lvl4pPr>
            <a:lvl5pPr marL="1522476" indent="0">
              <a:buNone/>
              <a:defRPr sz="700"/>
            </a:lvl5pPr>
            <a:lvl6pPr marL="1903095" indent="0">
              <a:buNone/>
              <a:defRPr sz="700"/>
            </a:lvl6pPr>
            <a:lvl7pPr marL="2283714" indent="0">
              <a:buNone/>
              <a:defRPr sz="700"/>
            </a:lvl7pPr>
            <a:lvl8pPr marL="2664333" indent="0">
              <a:buNone/>
              <a:defRPr sz="700"/>
            </a:lvl8pPr>
            <a:lvl9pPr marL="3044952" indent="0">
              <a:buNone/>
              <a:defRPr sz="7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089F4-7946-4CC1-9B94-F70B3A4D1A1E}" type="datetimeFigureOut">
              <a:rPr lang="ko-KR" altLang="en-US" smtClean="0"/>
              <a:pPr/>
              <a:t>2017-10-17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A948-351C-4B37-A7DE-F1B405EE014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089F4-7946-4CC1-9B94-F70B3A4D1A1E}" type="datetimeFigureOut">
              <a:rPr lang="ko-KR" altLang="en-US" smtClean="0"/>
              <a:pPr/>
              <a:t>2017-10-17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A948-351C-4B37-A7DE-F1B405EE014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517920" y="259045"/>
            <a:ext cx="1091688" cy="552012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42855" y="259045"/>
            <a:ext cx="3164046" cy="552012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089F4-7946-4CC1-9B94-F70B3A4D1A1E}" type="datetimeFigureOut">
              <a:rPr lang="ko-KR" altLang="en-US" smtClean="0"/>
              <a:pPr/>
              <a:t>2017-10-17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A948-351C-4B37-A7DE-F1B405EE014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33058" y="266755"/>
            <a:ext cx="5995035" cy="1110192"/>
          </a:xfrm>
          <a:prstGeom prst="rect">
            <a:avLst/>
          </a:prstGeom>
        </p:spPr>
        <p:txBody>
          <a:bodyPr vert="horz" lIns="76124" tIns="38062" rIns="76124" bIns="38062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33058" y="1554269"/>
            <a:ext cx="5995035" cy="4396051"/>
          </a:xfrm>
          <a:prstGeom prst="rect">
            <a:avLst/>
          </a:prstGeom>
        </p:spPr>
        <p:txBody>
          <a:bodyPr vert="horz" lIns="76124" tIns="38062" rIns="76124" bIns="38062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33058" y="6173899"/>
            <a:ext cx="1554268" cy="354645"/>
          </a:xfrm>
          <a:prstGeom prst="rect">
            <a:avLst/>
          </a:prstGeom>
        </p:spPr>
        <p:txBody>
          <a:bodyPr vert="horz" lIns="76124" tIns="38062" rIns="76124" bIns="38062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6089F4-7946-4CC1-9B94-F70B3A4D1A1E}" type="datetimeFigureOut">
              <a:rPr lang="ko-KR" altLang="en-US" smtClean="0"/>
              <a:pPr/>
              <a:t>2017-10-17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275893" y="6173899"/>
            <a:ext cx="2109364" cy="354645"/>
          </a:xfrm>
          <a:prstGeom prst="rect">
            <a:avLst/>
          </a:prstGeom>
        </p:spPr>
        <p:txBody>
          <a:bodyPr vert="horz" lIns="76124" tIns="38062" rIns="76124" bIns="38062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773824" y="6173899"/>
            <a:ext cx="1554268" cy="354645"/>
          </a:xfrm>
          <a:prstGeom prst="rect">
            <a:avLst/>
          </a:prstGeom>
        </p:spPr>
        <p:txBody>
          <a:bodyPr vert="horz" lIns="76124" tIns="38062" rIns="76124" bIns="38062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86A948-351C-4B37-A7DE-F1B405EE014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61238" rtl="0" eaLnBrk="1" latinLnBrk="1" hangingPunct="1">
        <a:spcBef>
          <a:spcPct val="0"/>
        </a:spcBef>
        <a:buNone/>
        <a:defRPr sz="3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464" indent="-285464" algn="l" defTabSz="761238" rtl="0" eaLnBrk="1" latinLnBrk="1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18506" indent="-237887" algn="l" defTabSz="761238" rtl="0" eaLnBrk="1" latinLnBrk="1" hangingPunct="1">
        <a:spcBef>
          <a:spcPct val="20000"/>
        </a:spcBef>
        <a:buFont typeface="Arial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951548" indent="-190310" algn="l" defTabSz="76123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2167" indent="-190310" algn="l" defTabSz="761238" rtl="0" eaLnBrk="1" latinLnBrk="1" hangingPunct="1">
        <a:spcBef>
          <a:spcPct val="20000"/>
        </a:spcBef>
        <a:buFont typeface="Arial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12786" indent="-190310" algn="l" defTabSz="761238" rtl="0" eaLnBrk="1" latinLnBrk="1" hangingPunct="1">
        <a:spcBef>
          <a:spcPct val="20000"/>
        </a:spcBef>
        <a:buFont typeface="Arial" pitchFamily="34" charset="0"/>
        <a:buChar char="»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093405" indent="-190310" algn="l" defTabSz="761238" rtl="0" eaLnBrk="1" latinLnBrk="1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474024" indent="-190310" algn="l" defTabSz="761238" rtl="0" eaLnBrk="1" latinLnBrk="1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2854643" indent="-190310" algn="l" defTabSz="761238" rtl="0" eaLnBrk="1" latinLnBrk="1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235262" indent="-190310" algn="l" defTabSz="761238" rtl="0" eaLnBrk="1" latinLnBrk="1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761238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619" algn="l" defTabSz="761238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238" algn="l" defTabSz="761238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1857" algn="l" defTabSz="761238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2476" algn="l" defTabSz="761238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3095" algn="l" defTabSz="761238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3714" algn="l" defTabSz="761238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4333" algn="l" defTabSz="761238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4952" algn="l" defTabSz="761238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73000"/>
            <a:lum/>
          </a:blip>
          <a:srcRect/>
          <a:stretch>
            <a:fillRect l="-38000" r="-3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415997" y="306239"/>
            <a:ext cx="5829155" cy="3231654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endParaRPr lang="en-US" altLang="ko-KR" sz="5400" b="0" cap="none" spc="0" dirty="0" smtClean="0">
              <a:ln w="10160">
                <a:solidFill>
                  <a:schemeClr val="accent1"/>
                </a:solidFill>
                <a:prstDash val="solid"/>
              </a:ln>
              <a:solidFill>
                <a:srgbClr val="FFFFFF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  <a:latin typeface="HY동녘B" pitchFamily="18" charset="-127"/>
              <a:ea typeface="HY동녘B" pitchFamily="18" charset="-127"/>
            </a:endParaRPr>
          </a:p>
          <a:p>
            <a:pPr algn="ctr"/>
            <a:r>
              <a:rPr lang="ko-KR" altLang="en-US" sz="480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bg1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HY동녘B" pitchFamily="18" charset="-127"/>
                <a:ea typeface="HY동녘B" pitchFamily="18" charset="-127"/>
              </a:rPr>
              <a:t>한국 축구</a:t>
            </a:r>
            <a:endParaRPr lang="en-US" altLang="ko-KR" sz="480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bg1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latin typeface="HY동녘B" pitchFamily="18" charset="-127"/>
              <a:ea typeface="HY동녘B" pitchFamily="18" charset="-127"/>
            </a:endParaRPr>
          </a:p>
          <a:p>
            <a:pPr algn="ctr"/>
            <a:r>
              <a:rPr lang="ko-KR" altLang="en-US" sz="4800" dirty="0" smtClean="0">
                <a:ln w="10160">
                  <a:solidFill>
                    <a:schemeClr val="accent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2000" dir="5400000" algn="tl">
                    <a:srgbClr val="000000">
                      <a:alpha val="30000"/>
                    </a:srgbClr>
                  </a:outerShdw>
                </a:effectLst>
                <a:latin typeface="HY동녘B" pitchFamily="18" charset="-127"/>
                <a:ea typeface="HY동녘B" pitchFamily="18" charset="-127"/>
              </a:rPr>
              <a:t>이대로 괜찮을까요</a:t>
            </a:r>
            <a:r>
              <a:rPr lang="en-US" altLang="ko-KR" sz="4800" dirty="0" smtClean="0">
                <a:ln w="10160">
                  <a:solidFill>
                    <a:schemeClr val="accent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2000" dir="5400000" algn="tl">
                    <a:srgbClr val="000000">
                      <a:alpha val="30000"/>
                    </a:srgbClr>
                  </a:outerShdw>
                </a:effectLst>
                <a:latin typeface="HY동녘B" pitchFamily="18" charset="-127"/>
                <a:ea typeface="HY동녘B" pitchFamily="18" charset="-127"/>
              </a:rPr>
              <a:t>?</a:t>
            </a:r>
          </a:p>
          <a:p>
            <a:pPr algn="ctr"/>
            <a:endParaRPr lang="ko-KR" altLang="en-US" sz="5400" b="0" cap="none" spc="0" dirty="0">
              <a:ln w="10160">
                <a:solidFill>
                  <a:schemeClr val="accent1"/>
                </a:solidFill>
                <a:prstDash val="solid"/>
              </a:ln>
              <a:solidFill>
                <a:srgbClr val="FFFFFF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  <a:latin typeface="HY동녘B" pitchFamily="18" charset="-127"/>
              <a:ea typeface="HY동녘B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90615" y="5634831"/>
            <a:ext cx="27318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 smtClean="0"/>
              <a:t> 201421370 </a:t>
            </a:r>
            <a:r>
              <a:rPr lang="ko-KR" altLang="en-US" sz="2000" b="1" dirty="0" smtClean="0"/>
              <a:t>경영학과</a:t>
            </a:r>
            <a:endParaRPr lang="en-US" altLang="ko-KR" sz="2000" b="1" dirty="0" smtClean="0"/>
          </a:p>
          <a:p>
            <a:pPr algn="r"/>
            <a:r>
              <a:rPr lang="ko-KR" altLang="en-US" sz="2000" b="1" dirty="0" smtClean="0"/>
              <a:t>이주용</a:t>
            </a:r>
            <a:endParaRPr lang="ko-KR" alt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0"/>
            <a:ext cx="6661150" cy="1818406"/>
          </a:xfrm>
          <a:solidFill>
            <a:schemeClr val="tx1">
              <a:alpha val="76000"/>
            </a:schemeClr>
          </a:solidFill>
        </p:spPr>
        <p:txBody>
          <a:bodyPr>
            <a:normAutofit/>
          </a:bodyPr>
          <a:lstStyle/>
          <a:p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지난 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26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일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, 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김호곤 기술위원장은 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2018 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러시아 월드컵을 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/>
            </a:r>
            <a:b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</a:b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신태용 감독 체제로 이어나가겠다고 밝혔다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.</a:t>
            </a:r>
            <a:b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</a:br>
            <a:endParaRPr lang="ko-KR" altLang="en-US" sz="2000" dirty="0">
              <a:solidFill>
                <a:schemeClr val="bg1"/>
              </a:solidFill>
              <a:latin typeface="HY강M" pitchFamily="18" charset="-127"/>
              <a:ea typeface="HY강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42229" y="4986759"/>
            <a:ext cx="617669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“</a:t>
            </a:r>
            <a:r>
              <a:rPr lang="ko-KR" altLang="en-US" sz="1600" b="1" dirty="0" err="1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그동안</a:t>
            </a:r>
            <a:r>
              <a:rPr lang="ko-KR" altLang="en-US" sz="1600" b="1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 여러 차례 이야기를 했지만 신태용 감독 체제로 </a:t>
            </a:r>
            <a:endParaRPr lang="en-US" altLang="ko-KR" sz="1600" b="1" dirty="0" smtClean="0">
              <a:solidFill>
                <a:schemeClr val="bg1"/>
              </a:solidFill>
              <a:latin typeface="HY강M" pitchFamily="18" charset="-127"/>
              <a:ea typeface="HY강M" pitchFamily="18" charset="-127"/>
            </a:endParaRPr>
          </a:p>
          <a:p>
            <a:r>
              <a:rPr lang="ko-KR" altLang="en-US" sz="1600" b="1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내년 월드컵을 펼치겠다는 생각은 변함없다</a:t>
            </a:r>
            <a:r>
              <a:rPr lang="en-US" altLang="ko-KR" sz="1600" b="1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. </a:t>
            </a:r>
          </a:p>
          <a:p>
            <a:r>
              <a:rPr lang="ko-KR" altLang="en-US" sz="1600" b="1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더 이상 불필요한 논란이 벌어지지 않도록 만들어 주시기 바란다</a:t>
            </a:r>
            <a:r>
              <a:rPr lang="en-US" altLang="ko-KR" sz="1600" b="1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”</a:t>
            </a:r>
          </a:p>
          <a:p>
            <a:endParaRPr lang="en-US" altLang="ko-KR" sz="1600" b="1" dirty="0">
              <a:solidFill>
                <a:schemeClr val="bg1"/>
              </a:solidFill>
              <a:latin typeface="HY강M" pitchFamily="18" charset="-127"/>
              <a:ea typeface="HY강M" pitchFamily="18" charset="-127"/>
            </a:endParaRPr>
          </a:p>
          <a:p>
            <a:pPr algn="r"/>
            <a:r>
              <a:rPr lang="en-US" altLang="ko-KR" sz="1600" b="1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- </a:t>
            </a:r>
            <a:r>
              <a:rPr lang="ko-KR" altLang="en-US" sz="1600" b="1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김호곤 대한 축구협회 기술위원장</a:t>
            </a:r>
            <a:endParaRPr lang="ko-KR" altLang="en-US" b="1" dirty="0">
              <a:latin typeface="HY강M" pitchFamily="18" charset="-127"/>
              <a:ea typeface="HY강M" pitchFamily="18" charset="-127"/>
            </a:endParaRPr>
          </a:p>
        </p:txBody>
      </p:sp>
      <p:pic>
        <p:nvPicPr>
          <p:cNvPr id="1027" name="Picture 3" descr="C:\Users\이주용\Desktop\NISI20170704_0013168307_web_2017070414505361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4261" y="1530375"/>
            <a:ext cx="5652628" cy="319724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0" y="0"/>
            <a:ext cx="6661150" cy="1818406"/>
          </a:xfrm>
          <a:solidFill>
            <a:schemeClr val="tx1">
              <a:alpha val="76000"/>
            </a:schemeClr>
          </a:solidFill>
        </p:spPr>
        <p:txBody>
          <a:bodyPr>
            <a:normAutofit/>
          </a:bodyPr>
          <a:lstStyle/>
          <a:p>
            <a:r>
              <a:rPr lang="ko-KR" altLang="en-US" sz="2000" dirty="0" err="1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히딩크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 감독에 대한 언급도 있었다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.</a:t>
            </a:r>
            <a:endParaRPr lang="ko-KR" altLang="en-US" sz="2000" dirty="0">
              <a:solidFill>
                <a:schemeClr val="bg1"/>
              </a:solidFill>
              <a:latin typeface="HY강M" pitchFamily="18" charset="-127"/>
              <a:ea typeface="HY강M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207" y="5058767"/>
            <a:ext cx="6580648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“</a:t>
            </a:r>
            <a:r>
              <a:rPr lang="ko-KR" altLang="en-US" b="1" dirty="0" err="1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히딩크</a:t>
            </a:r>
            <a:r>
              <a:rPr lang="ko-KR" altLang="en-US" b="1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 감독이 지닌 풍부한 경험이 큰 도움이 될 것</a:t>
            </a:r>
            <a:r>
              <a:rPr lang="en-US" altLang="ko-KR" b="1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”</a:t>
            </a:r>
          </a:p>
          <a:p>
            <a:r>
              <a:rPr lang="en-US" altLang="ko-KR" b="1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“</a:t>
            </a:r>
            <a:r>
              <a:rPr lang="ko-KR" altLang="en-US" b="1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네덜란드 기자 회견 이후 협회에서 메일을 보내 구체적 역할 및 조건을</a:t>
            </a:r>
            <a:endParaRPr lang="en-US" altLang="ko-KR" b="1" dirty="0" smtClean="0">
              <a:solidFill>
                <a:schemeClr val="bg1"/>
              </a:solidFill>
              <a:latin typeface="HY강M" pitchFamily="18" charset="-127"/>
              <a:ea typeface="HY강M" pitchFamily="18" charset="-127"/>
            </a:endParaRPr>
          </a:p>
          <a:p>
            <a:r>
              <a:rPr lang="ko-KR" altLang="en-US" b="1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원하는 게 있는지 의사를 물었고</a:t>
            </a:r>
            <a:r>
              <a:rPr lang="en-US" altLang="ko-KR" b="1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, </a:t>
            </a:r>
            <a:r>
              <a:rPr lang="ko-KR" altLang="en-US" b="1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회신이 오면 협의를 통해 잘 처리하겠다</a:t>
            </a:r>
            <a:r>
              <a:rPr lang="en-US" altLang="ko-KR" b="1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.”</a:t>
            </a:r>
          </a:p>
          <a:p>
            <a:endParaRPr lang="en-US" altLang="ko-KR" b="1" dirty="0" smtClean="0">
              <a:solidFill>
                <a:schemeClr val="bg1"/>
              </a:solidFill>
              <a:latin typeface="HY강M" pitchFamily="18" charset="-127"/>
              <a:ea typeface="HY강M" pitchFamily="18" charset="-127"/>
            </a:endParaRPr>
          </a:p>
          <a:p>
            <a:pPr algn="ctr"/>
            <a:r>
              <a:rPr lang="en-US" altLang="ko-KR" sz="1400" b="1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                                                       - </a:t>
            </a:r>
            <a:r>
              <a:rPr lang="ko-KR" altLang="en-US" sz="1400" b="1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김호곤 대한 축구협회 기술위원장</a:t>
            </a:r>
            <a:endParaRPr lang="ko-KR" altLang="en-US" b="1" dirty="0" smtClean="0">
              <a:latin typeface="HY강M" pitchFamily="18" charset="-127"/>
              <a:ea typeface="HY강M" pitchFamily="18" charset="-127"/>
            </a:endParaRPr>
          </a:p>
        </p:txBody>
      </p:sp>
      <p:pic>
        <p:nvPicPr>
          <p:cNvPr id="2050" name="Picture 2" descr="C:\Users\이주용\Desktop\PYH2014012106740001300_P2_59_2014012113490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49325" y="1458367"/>
            <a:ext cx="4762500" cy="31051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33057" y="4698727"/>
            <a:ext cx="5995035" cy="1110192"/>
          </a:xfrm>
        </p:spPr>
        <p:txBody>
          <a:bodyPr>
            <a:normAutofit/>
          </a:bodyPr>
          <a:lstStyle/>
          <a:p>
            <a:r>
              <a:rPr lang="ko-KR" altLang="en-US" sz="2000" b="1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하지만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,</a:t>
            </a:r>
            <a:b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</a:br>
            <a:r>
              <a:rPr lang="en-US" altLang="ko-KR" sz="2000" dirty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/>
            </a:r>
            <a:br>
              <a:rPr lang="en-US" altLang="ko-KR" sz="2000" dirty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</a:br>
            <a:r>
              <a:rPr lang="ko-KR" altLang="en-US" sz="2000" dirty="0" err="1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히딩크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 감독 논란을 해결하지는 못했다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.</a:t>
            </a:r>
            <a:endParaRPr lang="ko-KR" altLang="en-US" sz="2000" dirty="0">
              <a:solidFill>
                <a:schemeClr val="bg1"/>
              </a:solidFill>
              <a:latin typeface="HY강M" pitchFamily="18" charset="-127"/>
              <a:ea typeface="HY강M" pitchFamily="18" charset="-127"/>
            </a:endParaRPr>
          </a:p>
        </p:txBody>
      </p:sp>
      <p:pic>
        <p:nvPicPr>
          <p:cNvPr id="1026" name="Picture 2" descr="C:\Users\이주용\Desktop\0000211009_001_2017101108314238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8979" y="522263"/>
            <a:ext cx="5123192" cy="3240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33057" y="4698727"/>
            <a:ext cx="5995035" cy="1110192"/>
          </a:xfrm>
        </p:spPr>
        <p:txBody>
          <a:bodyPr>
            <a:normAutofit/>
          </a:bodyPr>
          <a:lstStyle/>
          <a:p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이미 비리로 논란이 불거진 대한축구협회에 대한 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/>
            </a:r>
            <a:b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</a:b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비난은 끊임없이 이어지고 있다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.</a:t>
            </a:r>
            <a:endParaRPr lang="ko-KR" altLang="en-US" sz="2000" dirty="0">
              <a:solidFill>
                <a:schemeClr val="bg1"/>
              </a:solidFill>
              <a:latin typeface="HY강M" pitchFamily="18" charset="-127"/>
              <a:ea typeface="HY강M" pitchFamily="18" charset="-127"/>
            </a:endParaRPr>
          </a:p>
        </p:txBody>
      </p:sp>
      <p:pic>
        <p:nvPicPr>
          <p:cNvPr id="3074" name="Picture 2" descr="C:\Users\이주용\Desktop\IBB6XbWeCknHThkLSKkGae1O6Mc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0575" y="666279"/>
            <a:ext cx="5760000" cy="323870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33057" y="4554711"/>
            <a:ext cx="5995035" cy="1110192"/>
          </a:xfrm>
        </p:spPr>
        <p:txBody>
          <a:bodyPr>
            <a:normAutofit/>
          </a:bodyPr>
          <a:lstStyle/>
          <a:p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이러한 논란 속에 우리의 좋은 추억으로 남아있던 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2002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년 월드컵을 성공적으로 이끌었던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,</a:t>
            </a:r>
            <a:endParaRPr lang="ko-KR" altLang="en-US" sz="2000" dirty="0">
              <a:solidFill>
                <a:schemeClr val="bg1"/>
              </a:solidFill>
              <a:latin typeface="HY강M" pitchFamily="18" charset="-127"/>
              <a:ea typeface="HY강M" pitchFamily="18" charset="-127"/>
            </a:endParaRPr>
          </a:p>
        </p:txBody>
      </p:sp>
      <p:pic>
        <p:nvPicPr>
          <p:cNvPr id="6147" name="Picture 3" descr="C:\Users\이주용\Desktop\안정환_골_세레머니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9102" y="522263"/>
            <a:ext cx="5902945" cy="331236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33057" y="4554711"/>
            <a:ext cx="5995035" cy="1110192"/>
          </a:xfrm>
        </p:spPr>
        <p:txBody>
          <a:bodyPr>
            <a:normAutofit/>
          </a:bodyPr>
          <a:lstStyle/>
          <a:p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우리나라의 축구 발전에 많은 기여를 했던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/>
            </a:r>
            <a:b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</a:br>
            <a:r>
              <a:rPr lang="ko-KR" altLang="en-US" sz="2000" b="1" dirty="0" err="1" smtClean="0">
                <a:solidFill>
                  <a:srgbClr val="00B050"/>
                </a:solidFill>
                <a:latin typeface="HY강M" pitchFamily="18" charset="-127"/>
                <a:ea typeface="HY강M" pitchFamily="18" charset="-127"/>
              </a:rPr>
              <a:t>히딩크</a:t>
            </a:r>
            <a:r>
              <a:rPr lang="ko-KR" altLang="en-US" sz="2000" b="1" dirty="0" smtClean="0">
                <a:solidFill>
                  <a:srgbClr val="00B050"/>
                </a:solidFill>
                <a:latin typeface="HY강M" pitchFamily="18" charset="-127"/>
                <a:ea typeface="HY강M" pitchFamily="18" charset="-127"/>
              </a:rPr>
              <a:t> 감독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이라는 사람을 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/>
            </a:r>
            <a:b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</a:b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한 순간에 잃어버렸다는 허탈감이 든다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.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 </a:t>
            </a:r>
            <a:endParaRPr lang="ko-KR" altLang="en-US" sz="2000" dirty="0">
              <a:solidFill>
                <a:schemeClr val="bg1"/>
              </a:solidFill>
              <a:latin typeface="HY강M" pitchFamily="18" charset="-127"/>
              <a:ea typeface="HY강M" pitchFamily="18" charset="-127"/>
            </a:endParaRPr>
          </a:p>
        </p:txBody>
      </p:sp>
      <p:pic>
        <p:nvPicPr>
          <p:cNvPr id="7170" name="Picture 2" descr="C:\Users\이주용\Desktop\IMG_508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775" y="450255"/>
            <a:ext cx="5563600" cy="315436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33057" y="594271"/>
            <a:ext cx="5995035" cy="1110192"/>
          </a:xfrm>
        </p:spPr>
        <p:txBody>
          <a:bodyPr>
            <a:normAutofit fontScale="90000"/>
          </a:bodyPr>
          <a:lstStyle/>
          <a:p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한편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/>
            </a:r>
            <a:b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</a:b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/>
            </a:r>
            <a:b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</a:b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대한민국은 러시아월드컵 본선 진출을 이루었지만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,</a:t>
            </a:r>
            <a:b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</a:b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/>
            </a:r>
            <a:b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</a:b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대한민국 축구의 </a:t>
            </a:r>
            <a:r>
              <a:rPr lang="ko-KR" altLang="en-US" sz="2000" dirty="0" err="1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경기력은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 최악이었다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.</a:t>
            </a:r>
            <a:endParaRPr lang="ko-KR" altLang="en-US" sz="2000" dirty="0">
              <a:solidFill>
                <a:schemeClr val="bg1"/>
              </a:solidFill>
              <a:latin typeface="HY강M" pitchFamily="18" charset="-127"/>
              <a:ea typeface="HY강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90542" y="5634831"/>
            <a:ext cx="34419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 smtClean="0">
                <a:solidFill>
                  <a:srgbClr val="C00000"/>
                </a:solidFill>
                <a:ea typeface="HY강M" pitchFamily="18" charset="-127"/>
              </a:rPr>
              <a:t>‘</a:t>
            </a:r>
            <a:r>
              <a:rPr lang="ko-KR" altLang="en-US" sz="3600" b="1" dirty="0" smtClean="0">
                <a:solidFill>
                  <a:srgbClr val="C00000"/>
                </a:solidFill>
                <a:ea typeface="HY강M" pitchFamily="18" charset="-127"/>
              </a:rPr>
              <a:t>무</a:t>
            </a:r>
            <a:r>
              <a:rPr lang="en-US" altLang="ko-KR" sz="3600" b="1" dirty="0" smtClean="0">
                <a:solidFill>
                  <a:srgbClr val="C00000"/>
                </a:solidFill>
                <a:ea typeface="HY강M" pitchFamily="18" charset="-127"/>
              </a:rPr>
              <a:t>’ ,  ‘</a:t>
            </a:r>
            <a:r>
              <a:rPr lang="ko-KR" altLang="en-US" sz="3600" b="1" dirty="0" smtClean="0">
                <a:solidFill>
                  <a:srgbClr val="C00000"/>
                </a:solidFill>
                <a:ea typeface="HY강M" pitchFamily="18" charset="-127"/>
              </a:rPr>
              <a:t>패</a:t>
            </a:r>
            <a:r>
              <a:rPr lang="en-US" altLang="ko-KR" sz="3600" b="1" dirty="0" smtClean="0">
                <a:solidFill>
                  <a:srgbClr val="C00000"/>
                </a:solidFill>
                <a:ea typeface="HY강M" pitchFamily="18" charset="-127"/>
              </a:rPr>
              <a:t>’  </a:t>
            </a:r>
            <a:r>
              <a:rPr lang="ko-KR" altLang="en-US" sz="3600" b="1" dirty="0" smtClean="0">
                <a:solidFill>
                  <a:srgbClr val="C00000"/>
                </a:solidFill>
                <a:ea typeface="HY강M" pitchFamily="18" charset="-127"/>
              </a:rPr>
              <a:t>행진</a:t>
            </a:r>
            <a:endParaRPr lang="ko-KR" altLang="en-US" sz="3600" b="1" dirty="0">
              <a:solidFill>
                <a:srgbClr val="C00000"/>
              </a:solidFill>
              <a:ea typeface="HY강M" pitchFamily="18" charset="-127"/>
            </a:endParaRPr>
          </a:p>
        </p:txBody>
      </p:sp>
      <p:pic>
        <p:nvPicPr>
          <p:cNvPr id="2050" name="Picture 2" descr="C:\Users\이주용\Desktop\8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2263" y="2538487"/>
            <a:ext cx="1944216" cy="1152128"/>
          </a:xfrm>
          <a:prstGeom prst="rect">
            <a:avLst/>
          </a:prstGeom>
          <a:noFill/>
        </p:spPr>
      </p:pic>
      <p:pic>
        <p:nvPicPr>
          <p:cNvPr id="2051" name="Picture 3" descr="C:\Users\이주용\Desktop\7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30575" y="3690615"/>
            <a:ext cx="1834764" cy="936104"/>
          </a:xfrm>
          <a:prstGeom prst="rect">
            <a:avLst/>
          </a:prstGeom>
          <a:noFill/>
        </p:spPr>
      </p:pic>
      <p:pic>
        <p:nvPicPr>
          <p:cNvPr id="2052" name="Picture 4" descr="C:\Users\이주용\Desktop\6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65022" y="3690615"/>
            <a:ext cx="1765553" cy="936104"/>
          </a:xfrm>
          <a:prstGeom prst="rect">
            <a:avLst/>
          </a:prstGeom>
          <a:noFill/>
        </p:spPr>
      </p:pic>
      <p:pic>
        <p:nvPicPr>
          <p:cNvPr id="2053" name="Picture 5" descr="C:\Users\이주용\Desktop\5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266679" y="2538487"/>
            <a:ext cx="1690623" cy="1152128"/>
          </a:xfrm>
          <a:prstGeom prst="rect">
            <a:avLst/>
          </a:prstGeom>
          <a:noFill/>
        </p:spPr>
      </p:pic>
      <p:pic>
        <p:nvPicPr>
          <p:cNvPr id="2055" name="Picture 7" descr="C:\Users\이주용\Desktop\9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466479" y="2538487"/>
            <a:ext cx="1800200" cy="115212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33057" y="4842743"/>
            <a:ext cx="5995035" cy="1110192"/>
          </a:xfrm>
        </p:spPr>
        <p:txBody>
          <a:bodyPr>
            <a:normAutofit/>
          </a:bodyPr>
          <a:lstStyle/>
          <a:p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한국 축구 팬들은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/>
            </a:r>
            <a:b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</a:b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대한민국의 축구 행정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, </a:t>
            </a:r>
            <a:r>
              <a:rPr lang="ko-KR" altLang="en-US" sz="2000" dirty="0" err="1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경기력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 등 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/>
            </a:r>
            <a:b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</a:b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모든 것에 실망을 했고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, </a:t>
            </a:r>
            <a:endParaRPr lang="ko-KR" altLang="en-US" sz="2000" dirty="0">
              <a:solidFill>
                <a:schemeClr val="bg1"/>
              </a:solidFill>
              <a:latin typeface="HY강M" pitchFamily="18" charset="-127"/>
              <a:ea typeface="HY강M" pitchFamily="18" charset="-127"/>
            </a:endParaRPr>
          </a:p>
        </p:txBody>
      </p:sp>
      <p:pic>
        <p:nvPicPr>
          <p:cNvPr id="1026" name="Picture 2" descr="C:\Users\이주용\Desktop\0002760856_004_2017101014510528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0575" y="522263"/>
            <a:ext cx="5760000" cy="324036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33057" y="4842743"/>
            <a:ext cx="5995035" cy="1110192"/>
          </a:xfrm>
        </p:spPr>
        <p:txBody>
          <a:bodyPr>
            <a:normAutofit/>
          </a:bodyPr>
          <a:lstStyle/>
          <a:p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현 실태에 대해 비꼬며 비난을 퍼붓고 있다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.</a:t>
            </a:r>
            <a:endParaRPr lang="ko-KR" altLang="en-US" sz="2000" dirty="0">
              <a:solidFill>
                <a:schemeClr val="bg1"/>
              </a:solidFill>
              <a:latin typeface="HY강M" pitchFamily="18" charset="-127"/>
              <a:ea typeface="HY강M" pitchFamily="18" charset="-127"/>
            </a:endParaRPr>
          </a:p>
        </p:txBody>
      </p:sp>
      <p:pic>
        <p:nvPicPr>
          <p:cNvPr id="3" name="Picture 2" descr="C:\Users\이주용\Desktop\캡처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6259" y="378247"/>
            <a:ext cx="5688632" cy="345638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6529" y="4842743"/>
            <a:ext cx="6328092" cy="1110192"/>
          </a:xfrm>
        </p:spPr>
        <p:txBody>
          <a:bodyPr>
            <a:normAutofit/>
          </a:bodyPr>
          <a:lstStyle/>
          <a:p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또한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, 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이전에는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/>
            </a:r>
            <a:b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</a:b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K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리그 심판 매수 사건이 있었다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.</a:t>
            </a:r>
            <a:endParaRPr lang="ko-KR" altLang="en-US" sz="2000" dirty="0">
              <a:solidFill>
                <a:schemeClr val="bg1"/>
              </a:solidFill>
              <a:latin typeface="HY강M" pitchFamily="18" charset="-127"/>
              <a:ea typeface="HY강M" pitchFamily="18" charset="-127"/>
            </a:endParaRPr>
          </a:p>
        </p:txBody>
      </p:sp>
      <p:pic>
        <p:nvPicPr>
          <p:cNvPr id="9218" name="Picture 2" descr="C:\Users\이주용\Desktop\2016-06-02_06;16;2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8247" y="347231"/>
            <a:ext cx="5847130" cy="32713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6529" y="4626719"/>
            <a:ext cx="6328092" cy="1110192"/>
          </a:xfrm>
        </p:spPr>
        <p:txBody>
          <a:bodyPr>
            <a:normAutofit/>
          </a:bodyPr>
          <a:lstStyle/>
          <a:p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이 사건에 대해 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K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리그 팬들은 분노했고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,</a:t>
            </a:r>
            <a:b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</a:b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이에 대해 중징계를 요구했다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.</a:t>
            </a:r>
            <a:endParaRPr lang="ko-KR" altLang="en-US" sz="2000" dirty="0">
              <a:solidFill>
                <a:schemeClr val="bg1"/>
              </a:solidFill>
              <a:latin typeface="HY강M" pitchFamily="18" charset="-127"/>
              <a:ea typeface="HY강M" pitchFamily="18" charset="-127"/>
            </a:endParaRPr>
          </a:p>
        </p:txBody>
      </p:sp>
      <p:pic>
        <p:nvPicPr>
          <p:cNvPr id="8194" name="Picture 2" descr="C:\Users\이주용\Desktop\560672_240498_320_99_2016100220331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8247" y="378247"/>
            <a:ext cx="5904656" cy="339648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6529" y="4626719"/>
            <a:ext cx="6328092" cy="1110192"/>
          </a:xfrm>
        </p:spPr>
        <p:txBody>
          <a:bodyPr>
            <a:normAutofit/>
          </a:bodyPr>
          <a:lstStyle/>
          <a:p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하지만 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K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리그 연맹은 단지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/>
            </a:r>
            <a:b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</a:b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승점 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9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점 감점과 벌금 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1</a:t>
            </a:r>
            <a:r>
              <a:rPr lang="ko-KR" altLang="en-US" sz="2000" dirty="0" err="1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억원이라는</a:t>
            </a:r>
            <a:r>
              <a:rPr lang="en-US" altLang="ko-KR" sz="2000" dirty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/>
            </a:r>
            <a:br>
              <a:rPr lang="en-US" altLang="ko-KR" sz="2000" dirty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</a:br>
            <a:r>
              <a:rPr lang="ko-KR" altLang="en-US" sz="2000" dirty="0" smtClean="0">
                <a:solidFill>
                  <a:srgbClr val="FFC000"/>
                </a:solidFill>
                <a:latin typeface="HY강M" pitchFamily="18" charset="-127"/>
                <a:ea typeface="HY강M" pitchFamily="18" charset="-127"/>
              </a:rPr>
              <a:t>솜방망이 처벌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을 내렸다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.</a:t>
            </a:r>
            <a:endParaRPr lang="ko-KR" altLang="en-US" sz="2000" dirty="0">
              <a:solidFill>
                <a:schemeClr val="bg1"/>
              </a:solidFill>
              <a:latin typeface="HY강M" pitchFamily="18" charset="-127"/>
              <a:ea typeface="HY강M" pitchFamily="18" charset="-127"/>
            </a:endParaRPr>
          </a:p>
        </p:txBody>
      </p:sp>
      <p:pic>
        <p:nvPicPr>
          <p:cNvPr id="10242" name="Picture 2" descr="C:\Users\이주용\Desktop\mug_obj_14755581630971782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267" y="378247"/>
            <a:ext cx="5544616" cy="369575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6529" y="4626719"/>
            <a:ext cx="6328092" cy="1110192"/>
          </a:xfrm>
        </p:spPr>
        <p:txBody>
          <a:bodyPr>
            <a:normAutofit/>
          </a:bodyPr>
          <a:lstStyle/>
          <a:p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이탈리아의 </a:t>
            </a:r>
            <a:r>
              <a:rPr lang="ko-KR" altLang="en-US" sz="2000" dirty="0" err="1" smtClean="0">
                <a:solidFill>
                  <a:srgbClr val="00B0F0"/>
                </a:solidFill>
                <a:latin typeface="HY강M" pitchFamily="18" charset="-127"/>
                <a:ea typeface="HY강M" pitchFamily="18" charset="-127"/>
              </a:rPr>
              <a:t>칼치오폴리</a:t>
            </a:r>
            <a:r>
              <a:rPr lang="en-US" altLang="ko-KR" sz="2000" dirty="0" smtClean="0">
                <a:solidFill>
                  <a:srgbClr val="00B0F0"/>
                </a:solidFill>
                <a:latin typeface="HY강M" pitchFamily="18" charset="-127"/>
                <a:ea typeface="HY강M" pitchFamily="18" charset="-127"/>
              </a:rPr>
              <a:t>(</a:t>
            </a:r>
            <a:r>
              <a:rPr lang="ko-KR" altLang="en-US" sz="2000" dirty="0" smtClean="0">
                <a:solidFill>
                  <a:srgbClr val="00B0F0"/>
                </a:solidFill>
                <a:latin typeface="HY강M" pitchFamily="18" charset="-127"/>
                <a:ea typeface="HY강M" pitchFamily="18" charset="-127"/>
              </a:rPr>
              <a:t>승부조작</a:t>
            </a:r>
            <a:r>
              <a:rPr lang="en-US" altLang="ko-KR" sz="2000" dirty="0" smtClean="0">
                <a:solidFill>
                  <a:srgbClr val="00B0F0"/>
                </a:solidFill>
                <a:latin typeface="HY강M" pitchFamily="18" charset="-127"/>
                <a:ea typeface="HY강M" pitchFamily="18" charset="-127"/>
              </a:rPr>
              <a:t>)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 사건에 대해 </a:t>
            </a:r>
            <a:r>
              <a:rPr lang="en-US" altLang="ko-KR" sz="2000" dirty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/>
            </a:r>
            <a:br>
              <a:rPr lang="en-US" altLang="ko-KR" sz="2000" dirty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</a:b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2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단계 강등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, 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승점 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30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점 감점이라는 중징계를 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/>
            </a:r>
            <a:b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</a:b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내렸던 것과는 비교가 된다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.</a:t>
            </a:r>
            <a:endParaRPr lang="ko-KR" altLang="en-US" sz="2000" dirty="0">
              <a:solidFill>
                <a:schemeClr val="bg1"/>
              </a:solidFill>
              <a:latin typeface="HY강M" pitchFamily="18" charset="-127"/>
              <a:ea typeface="HY강M" pitchFamily="18" charset="-127"/>
            </a:endParaRPr>
          </a:p>
        </p:txBody>
      </p:sp>
      <p:pic>
        <p:nvPicPr>
          <p:cNvPr id="11268" name="Picture 4" descr="C:\Users\이주용\Desktop\483276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08225" y="306239"/>
            <a:ext cx="2044700" cy="332581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6529" y="4626719"/>
            <a:ext cx="6328092" cy="1110192"/>
          </a:xfrm>
        </p:spPr>
        <p:txBody>
          <a:bodyPr>
            <a:normAutofit/>
          </a:bodyPr>
          <a:lstStyle/>
          <a:p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이후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 K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리그는 팬들에게 신뢰를 잃었고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/>
            </a:r>
            <a:b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</a:b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‘</a:t>
            </a:r>
            <a:r>
              <a:rPr lang="ko-KR" altLang="en-US" sz="2000" dirty="0" smtClean="0">
                <a:solidFill>
                  <a:srgbClr val="FF0000"/>
                </a:solidFill>
                <a:latin typeface="HY강M" pitchFamily="18" charset="-127"/>
                <a:ea typeface="HY강M" pitchFamily="18" charset="-127"/>
              </a:rPr>
              <a:t>오심 리그</a:t>
            </a:r>
            <a:r>
              <a:rPr lang="en-US" altLang="ko-KR" sz="2000" dirty="0" smtClean="0">
                <a:solidFill>
                  <a:srgbClr val="FF0000"/>
                </a:solidFill>
                <a:latin typeface="HY강M" pitchFamily="18" charset="-127"/>
                <a:ea typeface="HY강M" pitchFamily="18" charset="-127"/>
              </a:rPr>
              <a:t>’,‘</a:t>
            </a:r>
            <a:r>
              <a:rPr lang="ko-KR" altLang="en-US" sz="2000" dirty="0" smtClean="0">
                <a:solidFill>
                  <a:srgbClr val="FF0000"/>
                </a:solidFill>
                <a:latin typeface="HY강M" pitchFamily="18" charset="-127"/>
                <a:ea typeface="HY강M" pitchFamily="18" charset="-127"/>
              </a:rPr>
              <a:t>매수 리그</a:t>
            </a:r>
            <a:r>
              <a:rPr lang="en-US" altLang="ko-KR" sz="2000" dirty="0" smtClean="0">
                <a:solidFill>
                  <a:srgbClr val="FF0000"/>
                </a:solidFill>
                <a:latin typeface="HY강M" pitchFamily="18" charset="-127"/>
                <a:ea typeface="HY강M" pitchFamily="18" charset="-127"/>
              </a:rPr>
              <a:t>’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라는 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/>
            </a:r>
            <a:b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</a:b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치욕스런 말도 듣고 있다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.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 </a:t>
            </a:r>
            <a:endParaRPr lang="ko-KR" altLang="en-US" sz="2000" dirty="0">
              <a:solidFill>
                <a:schemeClr val="bg1"/>
              </a:solidFill>
              <a:latin typeface="HY강M" pitchFamily="18" charset="-127"/>
              <a:ea typeface="HY강M" pitchFamily="18" charset="-127"/>
            </a:endParaRPr>
          </a:p>
        </p:txBody>
      </p:sp>
      <p:pic>
        <p:nvPicPr>
          <p:cNvPr id="3074" name="Picture 2" descr="C:\Users\이주용\Desktop\sed0120130523142707_59_2013052314332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6259" y="378247"/>
            <a:ext cx="5688632" cy="353832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33057" y="4842743"/>
            <a:ext cx="5995035" cy="1110192"/>
          </a:xfrm>
        </p:spPr>
        <p:txBody>
          <a:bodyPr>
            <a:normAutofit/>
          </a:bodyPr>
          <a:lstStyle/>
          <a:p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3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년 전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, 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브라질 월드컵과 똑같은 시나리오를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/>
            </a:r>
            <a:b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</a:b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밟지 않기 위해 대한민국 축구는 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/>
            </a:r>
            <a:b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</a:br>
            <a:r>
              <a:rPr lang="ko-KR" altLang="en-US" sz="2000" dirty="0" smtClean="0">
                <a:solidFill>
                  <a:srgbClr val="FFFF00"/>
                </a:solidFill>
                <a:latin typeface="HY강M" pitchFamily="18" charset="-127"/>
                <a:ea typeface="HY강M" pitchFamily="18" charset="-127"/>
              </a:rPr>
              <a:t>개혁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이 필요해 보인다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.</a:t>
            </a:r>
            <a:endParaRPr lang="ko-KR" altLang="en-US" sz="2000" dirty="0">
              <a:solidFill>
                <a:schemeClr val="bg1"/>
              </a:solidFill>
              <a:latin typeface="HY강M" pitchFamily="18" charset="-127"/>
              <a:ea typeface="HY강M" pitchFamily="18" charset="-127"/>
            </a:endParaRPr>
          </a:p>
        </p:txBody>
      </p:sp>
      <p:pic>
        <p:nvPicPr>
          <p:cNvPr id="5123" name="Picture 3" descr="C:\Users\이주용\Desktop\PYH2014063000290001300_P2_99_2014063007230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0619" y="882303"/>
            <a:ext cx="5519912" cy="3312368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4482703" y="522263"/>
            <a:ext cx="15824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solidFill>
                  <a:schemeClr val="bg1"/>
                </a:solidFill>
              </a:rPr>
              <a:t>2014 </a:t>
            </a:r>
            <a:r>
              <a:rPr lang="ko-KR" altLang="en-US" sz="800" dirty="0" smtClean="0">
                <a:solidFill>
                  <a:schemeClr val="bg1"/>
                </a:solidFill>
              </a:rPr>
              <a:t>브라질 월드컵 귀국 현장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33057" y="4842743"/>
            <a:ext cx="5995035" cy="1110192"/>
          </a:xfrm>
        </p:spPr>
        <p:txBody>
          <a:bodyPr>
            <a:normAutofit/>
          </a:bodyPr>
          <a:lstStyle/>
          <a:p>
            <a:r>
              <a:rPr lang="ko-KR" altLang="en-US" sz="2000" dirty="0" smtClean="0">
                <a:solidFill>
                  <a:srgbClr val="00B0F0"/>
                </a:solidFill>
                <a:latin typeface="HY강M" pitchFamily="18" charset="-127"/>
                <a:ea typeface="HY강M" pitchFamily="18" charset="-127"/>
              </a:rPr>
              <a:t>신뢰를 회복</a:t>
            </a: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하는 것이 가장 우선이다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.</a:t>
            </a:r>
            <a:endParaRPr lang="ko-KR" altLang="en-US" sz="2000" dirty="0">
              <a:solidFill>
                <a:schemeClr val="bg1"/>
              </a:solidFill>
              <a:latin typeface="HY강M" pitchFamily="18" charset="-127"/>
              <a:ea typeface="HY강M" pitchFamily="18" charset="-127"/>
            </a:endParaRPr>
          </a:p>
        </p:txBody>
      </p:sp>
      <p:pic>
        <p:nvPicPr>
          <p:cNvPr id="4098" name="Picture 2" descr="C:\Users\이주용\Desktop\워렌_버핏_명언_모음_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267" y="882303"/>
            <a:ext cx="5544616" cy="3672408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4986759" y="450255"/>
            <a:ext cx="9717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bg1"/>
                </a:solidFill>
              </a:rPr>
              <a:t>- </a:t>
            </a:r>
            <a:r>
              <a:rPr lang="ko-KR" altLang="en-US" sz="1200" dirty="0" err="1" smtClean="0">
                <a:solidFill>
                  <a:schemeClr val="bg1"/>
                </a:solidFill>
              </a:rPr>
              <a:t>워런</a:t>
            </a:r>
            <a:r>
              <a:rPr lang="ko-KR" altLang="en-US" sz="1200" dirty="0" smtClean="0">
                <a:solidFill>
                  <a:schemeClr val="bg1"/>
                </a:solidFill>
              </a:rPr>
              <a:t> </a:t>
            </a:r>
            <a:r>
              <a:rPr lang="ko-KR" altLang="en-US" sz="1200" dirty="0" err="1" smtClean="0">
                <a:solidFill>
                  <a:schemeClr val="bg1"/>
                </a:solidFill>
              </a:rPr>
              <a:t>버핏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33057" y="4554711"/>
            <a:ext cx="5995035" cy="1110192"/>
          </a:xfrm>
        </p:spPr>
        <p:txBody>
          <a:bodyPr>
            <a:normAutofit/>
          </a:bodyPr>
          <a:lstStyle/>
          <a:p>
            <a:r>
              <a:rPr lang="ko-KR" altLang="en-US" sz="2400" b="1" dirty="0" smtClean="0">
                <a:solidFill>
                  <a:srgbClr val="FF0000"/>
                </a:solidFill>
                <a:latin typeface="HY강M" pitchFamily="18" charset="-127"/>
                <a:ea typeface="HY강M" pitchFamily="18" charset="-127"/>
              </a:rPr>
              <a:t>신뢰를 잃은 대한민국 축구</a:t>
            </a:r>
            <a:r>
              <a:rPr lang="en-US" altLang="ko-KR" sz="2400" b="1" dirty="0" smtClean="0">
                <a:solidFill>
                  <a:srgbClr val="FF0000"/>
                </a:solidFill>
                <a:latin typeface="HY강M" pitchFamily="18" charset="-127"/>
                <a:ea typeface="HY강M" pitchFamily="18" charset="-127"/>
              </a:rPr>
              <a:t>,</a:t>
            </a:r>
            <a:br>
              <a:rPr lang="en-US" altLang="ko-KR" sz="2400" b="1" dirty="0" smtClean="0">
                <a:solidFill>
                  <a:srgbClr val="FF0000"/>
                </a:solidFill>
                <a:latin typeface="HY강M" pitchFamily="18" charset="-127"/>
                <a:ea typeface="HY강M" pitchFamily="18" charset="-127"/>
              </a:rPr>
            </a:br>
            <a:r>
              <a:rPr lang="en-US" altLang="ko-KR" sz="2000" dirty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/>
            </a:r>
            <a:br>
              <a:rPr lang="en-US" altLang="ko-KR" sz="2000" dirty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</a:br>
            <a:r>
              <a:rPr lang="ko-KR" altLang="en-US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이 상황을 하루빨리 잘 해결해 나가기를 바란다</a:t>
            </a:r>
            <a:r>
              <a:rPr lang="en-US" altLang="ko-KR" sz="2000" dirty="0" smtClean="0">
                <a:solidFill>
                  <a:schemeClr val="bg1"/>
                </a:solidFill>
                <a:latin typeface="HY강M" pitchFamily="18" charset="-127"/>
                <a:ea typeface="HY강M" pitchFamily="18" charset="-127"/>
              </a:rPr>
              <a:t>.</a:t>
            </a:r>
            <a:endParaRPr lang="ko-KR" altLang="en-US" sz="2000" dirty="0">
              <a:solidFill>
                <a:schemeClr val="bg1"/>
              </a:solidFill>
              <a:latin typeface="HY강M" pitchFamily="18" charset="-127"/>
              <a:ea typeface="HY강M" pitchFamily="18" charset="-127"/>
            </a:endParaRPr>
          </a:p>
        </p:txBody>
      </p:sp>
      <p:pic>
        <p:nvPicPr>
          <p:cNvPr id="12290" name="Picture 2" descr="C:\Users\이주용\Desktop\0000320399_001_2017091421304757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31814" y="306239"/>
            <a:ext cx="2597522" cy="347418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199</Words>
  <Application>Microsoft Office PowerPoint</Application>
  <PresentationFormat>사용자 지정</PresentationFormat>
  <Paragraphs>35</Paragraphs>
  <Slides>18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19" baseType="lpstr">
      <vt:lpstr>Office 테마</vt:lpstr>
      <vt:lpstr>슬라이드 1</vt:lpstr>
      <vt:lpstr>지난 26일, 김호곤 기술위원장은 2018 러시아 월드컵을  신태용 감독 체제로 이어나가겠다고 밝혔다. </vt:lpstr>
      <vt:lpstr>히딩크 감독에 대한 언급도 있었다.</vt:lpstr>
      <vt:lpstr>하지만,  히딩크 감독 논란을 해결하지는 못했다.</vt:lpstr>
      <vt:lpstr>이미 비리로 논란이 불거진 대한축구협회에 대한  비난은 끊임없이 이어지고 있다.</vt:lpstr>
      <vt:lpstr>이러한 논란 속에 우리의 좋은 추억으로 남아있던 2002년 월드컵을 성공적으로 이끌었던,</vt:lpstr>
      <vt:lpstr>우리나라의 축구 발전에 많은 기여를 했던 히딩크 감독이라는 사람을  한 순간에 잃어버렸다는 허탈감이 든다. </vt:lpstr>
      <vt:lpstr>한편  대한민국은 러시아월드컵 본선 진출을 이루었지만,  대한민국 축구의 경기력은 최악이었다.</vt:lpstr>
      <vt:lpstr>한국 축구 팬들은 대한민국의 축구 행정, 경기력 등  모든 것에 실망을 했고, </vt:lpstr>
      <vt:lpstr>현 실태에 대해 비꼬며 비난을 퍼붓고 있다.</vt:lpstr>
      <vt:lpstr>또한, 이전에는 K리그 심판 매수 사건이 있었다.</vt:lpstr>
      <vt:lpstr>이 사건에 대해 K리그 팬들은 분노했고, 이에 대해 중징계를 요구했다.</vt:lpstr>
      <vt:lpstr>하지만 K리그 연맹은 단지 승점 9점 감점과 벌금 1억원이라는 솜방망이 처벌을 내렸다.</vt:lpstr>
      <vt:lpstr>이탈리아의 칼치오폴리(승부조작) 사건에 대해  2단계 강등, 승점 30점 감점이라는 중징계를  내렸던 것과는 비교가 된다.</vt:lpstr>
      <vt:lpstr>이후 K리그는 팬들에게 신뢰를 잃었고 ‘오심 리그’,‘매수 리그’라는  치욕스런 말도 듣고 있다. </vt:lpstr>
      <vt:lpstr>3년 전, 브라질 월드컵과 똑같은 시나리오를 밟지 않기 위해 대한민국 축구는  개혁이 필요해 보인다.</vt:lpstr>
      <vt:lpstr>신뢰를 회복하는 것이 가장 우선이다.</vt:lpstr>
      <vt:lpstr>신뢰를 잃은 대한민국 축구,  이 상황을 하루빨리 잘 해결해 나가기를 바란다.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이주용</dc:creator>
  <cp:lastModifiedBy>이주용</cp:lastModifiedBy>
  <cp:revision>83</cp:revision>
  <dcterms:created xsi:type="dcterms:W3CDTF">2017-10-14T05:49:37Z</dcterms:created>
  <dcterms:modified xsi:type="dcterms:W3CDTF">2017-10-16T15:51:10Z</dcterms:modified>
</cp:coreProperties>
</file>